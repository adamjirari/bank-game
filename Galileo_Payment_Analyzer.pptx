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1E2978"/>
                </a:solidFill>
                <a:latin typeface="Calibri"/>
              </a:rPr>
              <a:t>Galileo Payment Analyzer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202020"/>
                </a:solidFill>
                <a:latin typeface="Calibri"/>
              </a:rPr>
              <a:t>An AI-Powered Payment Repair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55555"/>
                </a:solidFill>
                <a:latin typeface="Calibri"/>
              </a:rPr>
              <a:t>Built for High Value Payments  |  Deutsche Bank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108960"/>
            <a:ext cx="2286000" cy="50800"/>
          </a:xfrm>
          <a:prstGeom prst="rect">
            <a:avLst/>
          </a:prstGeom>
          <a:solidFill>
            <a:srgbClr val="1E2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E2978"/>
                </a:solidFill>
                <a:latin typeface="Calibri"/>
              </a:rPr>
              <a:t>What We Built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2286000" cy="38100"/>
          </a:xfrm>
          <a:prstGeom prst="rect">
            <a:avLst/>
          </a:prstGeom>
          <a:solidFill>
            <a:srgbClr val="1E2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10"/>
              </a:spcAft>
            </a:pPr>
            <a:r>
              <a:rPr sz="2000">
                <a:solidFill>
                  <a:srgbClr val="202020"/>
                </a:solidFill>
                <a:latin typeface="Calibri"/>
              </a:rPr>
              <a:t>•  A web app that helps analysts repair fatal payment messages using AI</a:t>
            </a:r>
          </a:p>
          <a:p>
            <a:pPr algn="l">
              <a:spcAft>
                <a:spcPts val="810"/>
              </a:spcAft>
            </a:pPr>
            <a:r>
              <a:rPr sz="2000">
                <a:solidFill>
                  <a:srgbClr val="202020"/>
                </a:solidFill>
                <a:latin typeface="Calibri"/>
              </a:rPr>
              <a:t>•  Two modes inside one tool:</a:t>
            </a:r>
          </a:p>
          <a:p>
            <a:pPr algn="l" lvl="1">
              <a:spcAft>
                <a:spcPts val="810"/>
              </a:spcAft>
            </a:pPr>
            <a:r>
              <a:rPr sz="1700">
                <a:solidFill>
                  <a:srgbClr val="555555"/>
                </a:solidFill>
                <a:latin typeface="Calibri"/>
              </a:rPr>
              <a:t>  -  Chat Mode  -  ask the AI questions about a payment message</a:t>
            </a:r>
          </a:p>
          <a:p>
            <a:pPr algn="l" lvl="1">
              <a:spcAft>
                <a:spcPts val="810"/>
              </a:spcAft>
            </a:pPr>
            <a:r>
              <a:rPr sz="1700">
                <a:solidFill>
                  <a:srgbClr val="555555"/>
                </a:solidFill>
                <a:latin typeface="Calibri"/>
              </a:rPr>
              <a:t>  -  Repair Mode  -  auto-correct a broken payment and show the diff</a:t>
            </a:r>
          </a:p>
          <a:p>
            <a:pPr algn="l">
              <a:spcAft>
                <a:spcPts val="810"/>
              </a:spcAft>
            </a:pPr>
            <a:r>
              <a:rPr sz="2000">
                <a:solidFill>
                  <a:srgbClr val="202020"/>
                </a:solidFill>
                <a:latin typeface="Calibri"/>
              </a:rPr>
              <a:t>•  Built as a simple static website (HTML, CSS, JavaScript)</a:t>
            </a:r>
          </a:p>
          <a:p>
            <a:pPr algn="l">
              <a:spcAft>
                <a:spcPts val="810"/>
              </a:spcAft>
            </a:pPr>
            <a:r>
              <a:rPr sz="2000">
                <a:solidFill>
                  <a:srgbClr val="202020"/>
                </a:solidFill>
                <a:latin typeface="Calibri"/>
              </a:rPr>
              <a:t>•  Runs entirely in the browser, calls Deutsche Bank's internal Vertex AI endpoint</a:t>
            </a:r>
          </a:p>
          <a:p>
            <a:pPr algn="l">
              <a:spcAft>
                <a:spcPts val="810"/>
              </a:spcAft>
            </a:pPr>
            <a:r>
              <a:rPr sz="2000">
                <a:solidFill>
                  <a:srgbClr val="202020"/>
                </a:solidFill>
                <a:latin typeface="Calibri"/>
              </a:rPr>
              <a:t>•  Easy to deploy  -  just static files behind nginx on OpenShift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E2978"/>
                </a:solidFill>
                <a:latin typeface="Calibri"/>
              </a:rPr>
              <a:t>How AI Endpoints Work (in general)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2286000" cy="38100"/>
          </a:xfrm>
          <a:prstGeom prst="rect">
            <a:avLst/>
          </a:prstGeom>
          <a:solidFill>
            <a:srgbClr val="1E2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10"/>
              </a:spcAft>
            </a:pPr>
            <a:r>
              <a:rPr sz="2000">
                <a:solidFill>
                  <a:srgbClr val="202020"/>
                </a:solidFill>
                <a:latin typeface="Calibri"/>
              </a:rPr>
              <a:t>•  An AI endpoint is just a web URL you can send a request to</a:t>
            </a:r>
          </a:p>
          <a:p>
            <a:pPr algn="l">
              <a:spcAft>
                <a:spcPts val="810"/>
              </a:spcAft>
            </a:pPr>
            <a:r>
              <a:rPr sz="2000">
                <a:solidFill>
                  <a:srgbClr val="202020"/>
                </a:solidFill>
                <a:latin typeface="Calibri"/>
              </a:rPr>
              <a:t>•  You POST a JSON request with three main parts:</a:t>
            </a:r>
          </a:p>
          <a:p>
            <a:pPr algn="l" lvl="1">
              <a:spcAft>
                <a:spcPts val="810"/>
              </a:spcAft>
            </a:pPr>
            <a:r>
              <a:rPr sz="1700">
                <a:solidFill>
                  <a:srgbClr val="555555"/>
                </a:solidFill>
                <a:latin typeface="Calibri"/>
              </a:rPr>
              <a:t>  -  prompt  -  the text/data you want the AI to look at</a:t>
            </a:r>
          </a:p>
          <a:p>
            <a:pPr algn="l" lvl="1">
              <a:spcAft>
                <a:spcPts val="810"/>
              </a:spcAft>
            </a:pPr>
            <a:r>
              <a:rPr sz="1700">
                <a:solidFill>
                  <a:srgbClr val="555555"/>
                </a:solidFill>
                <a:latin typeface="Calibri"/>
              </a:rPr>
              <a:t>  -  system_instruction  -  the role/task you want the AI to perform</a:t>
            </a:r>
          </a:p>
          <a:p>
            <a:pPr algn="l" lvl="1">
              <a:spcAft>
                <a:spcPts val="810"/>
              </a:spcAft>
            </a:pPr>
            <a:r>
              <a:rPr sz="1700">
                <a:solidFill>
                  <a:srgbClr val="555555"/>
                </a:solidFill>
                <a:latin typeface="Calibri"/>
              </a:rPr>
              <a:t>  -  temperature  -  how creative vs. deterministic the AI should be (0 = strict, 1 = creative)</a:t>
            </a:r>
          </a:p>
          <a:p>
            <a:pPr algn="l">
              <a:spcAft>
                <a:spcPts val="810"/>
              </a:spcAft>
            </a:pPr>
            <a:r>
              <a:rPr sz="2000">
                <a:solidFill>
                  <a:srgbClr val="202020"/>
                </a:solidFill>
                <a:latin typeface="Calibri"/>
              </a:rPr>
              <a:t>•  The endpoint returns a JSON response with the AI's text reply</a:t>
            </a:r>
          </a:p>
          <a:p>
            <a:pPr algn="l">
              <a:spcAft>
                <a:spcPts val="810"/>
              </a:spcAft>
            </a:pPr>
            <a:r>
              <a:rPr sz="2000">
                <a:solidFill>
                  <a:srgbClr val="202020"/>
                </a:solidFill>
                <a:latin typeface="Calibri"/>
              </a:rPr>
              <a:t>•  Authentication is handled with a bearer token in the request header</a:t>
            </a:r>
          </a:p>
          <a:p>
            <a:pPr algn="l">
              <a:spcAft>
                <a:spcPts val="810"/>
              </a:spcAft>
            </a:pPr>
            <a:r>
              <a:rPr sz="2000">
                <a:solidFill>
                  <a:srgbClr val="202020"/>
                </a:solidFill>
                <a:latin typeface="Calibri"/>
              </a:rPr>
              <a:t>•  Same pattern works for OpenAI, Anthropic Claude, Google Gemini, etc.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E2978"/>
                </a:solidFill>
                <a:latin typeface="Calibri"/>
              </a:rPr>
              <a:t>How We Are Using Gemini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2286000" cy="38100"/>
          </a:xfrm>
          <a:prstGeom prst="rect">
            <a:avLst/>
          </a:prstGeom>
          <a:solidFill>
            <a:srgbClr val="1E2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10"/>
              </a:spcAft>
            </a:pPr>
            <a:r>
              <a:rPr sz="2000">
                <a:solidFill>
                  <a:srgbClr val="202020"/>
                </a:solidFill>
                <a:latin typeface="Calibri"/>
              </a:rPr>
              <a:t>•  Deutsche Bank hosts Gemini through Google Vertex AI</a:t>
            </a:r>
          </a:p>
          <a:p>
            <a:pPr algn="l">
              <a:spcAft>
                <a:spcPts val="810"/>
              </a:spcAft>
            </a:pPr>
            <a:r>
              <a:rPr sz="2000">
                <a:solidFill>
                  <a:srgbClr val="202020"/>
                </a:solidFill>
                <a:latin typeface="Calibri"/>
              </a:rPr>
              <a:t>•  We call the endpoint directly from the browser with a bearer token</a:t>
            </a:r>
          </a:p>
          <a:p>
            <a:pPr algn="l">
              <a:spcAft>
                <a:spcPts val="810"/>
              </a:spcAft>
            </a:pPr>
            <a:r>
              <a:rPr sz="2000">
                <a:solidFill>
                  <a:srgbClr val="202020"/>
                </a:solidFill>
                <a:latin typeface="Calibri"/>
              </a:rPr>
              <a:t>•  Every action in the app sends the same JSON request shape:</a:t>
            </a:r>
          </a:p>
          <a:p>
            <a:pPr algn="l" lvl="1">
              <a:spcAft>
                <a:spcPts val="810"/>
              </a:spcAft>
            </a:pPr>
            <a:r>
              <a:rPr sz="1700">
                <a:solidFill>
                  <a:srgbClr val="555555"/>
                </a:solidFill>
                <a:latin typeface="Calibri"/>
              </a:rPr>
              <a:t>  -  { "prompt": "...", "temperature": 0.20, "system_instruction": "..." }</a:t>
            </a:r>
          </a:p>
          <a:p>
            <a:pPr algn="l">
              <a:spcAft>
                <a:spcPts val="810"/>
              </a:spcAft>
            </a:pPr>
            <a:r>
              <a:rPr sz="2000">
                <a:solidFill>
                  <a:srgbClr val="202020"/>
                </a:solidFill>
                <a:latin typeface="Calibri"/>
              </a:rPr>
              <a:t>•  What changes between actions is the system_instruction:</a:t>
            </a:r>
          </a:p>
          <a:p>
            <a:pPr algn="l" lvl="1">
              <a:spcAft>
                <a:spcPts val="810"/>
              </a:spcAft>
            </a:pPr>
            <a:r>
              <a:rPr sz="1700">
                <a:solidFill>
                  <a:srgbClr val="555555"/>
                </a:solidFill>
                <a:latin typeface="Calibri"/>
              </a:rPr>
              <a:t>  -  Chat Mode uses a payments-analyst persona</a:t>
            </a:r>
          </a:p>
          <a:p>
            <a:pPr algn="l" lvl="1">
              <a:spcAft>
                <a:spcPts val="810"/>
              </a:spcAft>
            </a:pPr>
            <a:r>
              <a:rPr sz="1700">
                <a:solidFill>
                  <a:srgbClr val="555555"/>
                </a:solidFill>
                <a:latin typeface="Calibri"/>
              </a:rPr>
              <a:t>  -  Repair Mode uses a strict repair-engine persona that only returns the corrected message</a:t>
            </a:r>
          </a:p>
          <a:p>
            <a:pPr algn="l">
              <a:spcAft>
                <a:spcPts val="810"/>
              </a:spcAft>
            </a:pPr>
            <a:r>
              <a:rPr sz="2000">
                <a:solidFill>
                  <a:srgbClr val="202020"/>
                </a:solidFill>
                <a:latin typeface="Calibri"/>
              </a:rPr>
              <a:t>•  Temperature is set low (0.2) for repair work so output is predictable</a:t>
            </a:r>
          </a:p>
          <a:p>
            <a:pPr algn="l">
              <a:spcAft>
                <a:spcPts val="810"/>
              </a:spcAft>
            </a:pPr>
            <a:r>
              <a:rPr sz="2000">
                <a:solidFill>
                  <a:srgbClr val="202020"/>
                </a:solidFill>
                <a:latin typeface="Calibri"/>
              </a:rPr>
              <a:t>•  All processing stays within Deutsche Bank's hosted Gemini tenant  -  no external data calls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E2978"/>
                </a:solidFill>
                <a:latin typeface="Calibri"/>
              </a:rPr>
              <a:t>Why This Helps Payment Operators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2286000" cy="38100"/>
          </a:xfrm>
          <a:prstGeom prst="rect">
            <a:avLst/>
          </a:prstGeom>
          <a:solidFill>
            <a:srgbClr val="1E2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10"/>
              </a:spcAft>
            </a:pPr>
            <a:r>
              <a:rPr sz="2000">
                <a:solidFill>
                  <a:srgbClr val="202020"/>
                </a:solidFill>
                <a:latin typeface="Calibri"/>
              </a:rPr>
              <a:t>•  Today, fatal payments are repaired manually  -  slow, error-prone, and SLA-critical</a:t>
            </a:r>
          </a:p>
          <a:p>
            <a:pPr algn="l">
              <a:spcAft>
                <a:spcPts val="810"/>
              </a:spcAft>
            </a:pPr>
            <a:r>
              <a:rPr sz="2000">
                <a:solidFill>
                  <a:srgbClr val="202020"/>
                </a:solidFill>
                <a:latin typeface="Calibri"/>
              </a:rPr>
              <a:t>•  The tool gives operators a head start on every repair:</a:t>
            </a:r>
          </a:p>
          <a:p>
            <a:pPr algn="l" lvl="1">
              <a:spcAft>
                <a:spcPts val="810"/>
              </a:spcAft>
            </a:pPr>
            <a:r>
              <a:rPr sz="1700">
                <a:solidFill>
                  <a:srgbClr val="555555"/>
                </a:solidFill>
                <a:latin typeface="Calibri"/>
              </a:rPr>
              <a:t>  -  Suggests the fix instantly instead of hunting through XML by hand</a:t>
            </a:r>
          </a:p>
          <a:p>
            <a:pPr algn="l" lvl="1">
              <a:spcAft>
                <a:spcPts val="810"/>
              </a:spcAft>
            </a:pPr>
            <a:r>
              <a:rPr sz="1700">
                <a:solidFill>
                  <a:srgbClr val="555555"/>
                </a:solidFill>
                <a:latin typeface="Calibri"/>
              </a:rPr>
              <a:t>  -  Shows a clear before/after diff so the operator can verify what changed</a:t>
            </a:r>
          </a:p>
          <a:p>
            <a:pPr algn="l" lvl="1">
              <a:spcAft>
                <a:spcPts val="810"/>
              </a:spcAft>
            </a:pPr>
            <a:r>
              <a:rPr sz="1700">
                <a:solidFill>
                  <a:srgbClr val="555555"/>
                </a:solidFill>
                <a:latin typeface="Calibri"/>
              </a:rPr>
              <a:t>  -  Explains WHY a change was made, in plain payments language</a:t>
            </a:r>
          </a:p>
          <a:p>
            <a:pPr algn="l">
              <a:spcAft>
                <a:spcPts val="810"/>
              </a:spcAft>
            </a:pPr>
            <a:r>
              <a:rPr sz="2000">
                <a:solidFill>
                  <a:srgbClr val="202020"/>
                </a:solidFill>
                <a:latin typeface="Calibri"/>
              </a:rPr>
              <a:t>•  Less time per repair = fewer SLA misses, lower FX exposure, less rework</a:t>
            </a:r>
          </a:p>
          <a:p>
            <a:pPr algn="l">
              <a:spcAft>
                <a:spcPts val="810"/>
              </a:spcAft>
            </a:pPr>
            <a:r>
              <a:rPr sz="2000">
                <a:solidFill>
                  <a:srgbClr val="202020"/>
                </a:solidFill>
                <a:latin typeface="Calibri"/>
              </a:rPr>
              <a:t>•  Acts as a knowledge tool  -  junior analysts learn from the AI's reasoning</a:t>
            </a:r>
          </a:p>
          <a:p>
            <a:pPr algn="l">
              <a:spcAft>
                <a:spcPts val="810"/>
              </a:spcAft>
            </a:pPr>
            <a:r>
              <a:rPr sz="2000">
                <a:solidFill>
                  <a:srgbClr val="202020"/>
                </a:solidFill>
                <a:latin typeface="Calibri"/>
              </a:rPr>
              <a:t>•  Operator stays in control  -  the AI suggests, the human approves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E2978"/>
                </a:solidFill>
                <a:latin typeface="Calibri"/>
              </a:rPr>
              <a:t>Features We Built  -  Repair Mode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2286000" cy="38100"/>
          </a:xfrm>
          <a:prstGeom prst="rect">
            <a:avLst/>
          </a:prstGeom>
          <a:solidFill>
            <a:srgbClr val="1E2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</a:pPr>
            <a:r>
              <a:rPr sz="1800">
                <a:solidFill>
                  <a:srgbClr val="202020"/>
                </a:solidFill>
                <a:latin typeface="Calibri"/>
              </a:rPr>
              <a:t>•  Paste a broken payment message  -  works with PACS, CAMT, MT, etc.</a:t>
            </a:r>
          </a:p>
          <a:p>
            <a:pPr algn="l">
              <a:spcAft>
                <a:spcPts val="540"/>
              </a:spcAft>
            </a:pPr>
            <a:r>
              <a:rPr sz="1800">
                <a:solidFill>
                  <a:srgbClr val="202020"/>
                </a:solidFill>
                <a:latin typeface="Calibri"/>
              </a:rPr>
              <a:t>•  Normalize step  -  AI cleans up formatting first so the diff is honest</a:t>
            </a:r>
          </a:p>
          <a:p>
            <a:pPr algn="l">
              <a:spcAft>
                <a:spcPts val="540"/>
              </a:spcAft>
            </a:pPr>
            <a:r>
              <a:rPr sz="1800">
                <a:solidFill>
                  <a:srgbClr val="202020"/>
                </a:solidFill>
                <a:latin typeface="Calibri"/>
              </a:rPr>
              <a:t>•  Repair step  -  AI returns the corrected payment message</a:t>
            </a:r>
          </a:p>
          <a:p>
            <a:pPr algn="l">
              <a:spcAft>
                <a:spcPts val="540"/>
              </a:spcAft>
            </a:pPr>
            <a:r>
              <a:rPr sz="1800">
                <a:solidFill>
                  <a:srgbClr val="202020"/>
                </a:solidFill>
                <a:latin typeface="Calibri"/>
              </a:rPr>
              <a:t>•  GitHub-style red/green diff so changes are obvious at a glance</a:t>
            </a:r>
          </a:p>
          <a:p>
            <a:pPr algn="l">
              <a:spcAft>
                <a:spcPts val="540"/>
              </a:spcAft>
            </a:pPr>
            <a:r>
              <a:rPr sz="1800">
                <a:solidFill>
                  <a:srgbClr val="202020"/>
                </a:solidFill>
                <a:latin typeface="Calibri"/>
              </a:rPr>
              <a:t>•  Copy button  -  one click to grab the repaired message</a:t>
            </a:r>
          </a:p>
          <a:p>
            <a:pPr algn="l">
              <a:spcAft>
                <a:spcPts val="540"/>
              </a:spcAft>
            </a:pPr>
            <a:r>
              <a:rPr sz="1800">
                <a:solidFill>
                  <a:srgbClr val="202020"/>
                </a:solidFill>
                <a:latin typeface="Calibri"/>
              </a:rPr>
              <a:t>•  "Explain it to me" button  -  AI explains every change in plain English</a:t>
            </a:r>
          </a:p>
          <a:p>
            <a:pPr algn="l">
              <a:spcAft>
                <a:spcPts val="540"/>
              </a:spcAft>
            </a:pPr>
            <a:r>
              <a:rPr sz="1800">
                <a:solidFill>
                  <a:srgbClr val="202020"/>
                </a:solidFill>
                <a:latin typeface="Calibri"/>
              </a:rPr>
              <a:t>•  "Four Eye Check" button  -  runs the repair through the AI again as an independent reviewer</a:t>
            </a:r>
          </a:p>
          <a:p>
            <a:pPr algn="l" lvl="1">
              <a:spcAft>
                <a:spcPts val="540"/>
              </a:spcAft>
            </a:pPr>
            <a:r>
              <a:rPr sz="1500">
                <a:solidFill>
                  <a:srgbClr val="555555"/>
                </a:solidFill>
                <a:latin typeface="Calibri"/>
              </a:rPr>
              <a:t>  -  Returns a confidence score (0-100%) with a green/amber/red badge</a:t>
            </a:r>
          </a:p>
          <a:p>
            <a:pPr algn="l" lvl="1">
              <a:spcAft>
                <a:spcPts val="540"/>
              </a:spcAft>
            </a:pPr>
            <a:r>
              <a:rPr sz="1500">
                <a:solidFill>
                  <a:srgbClr val="555555"/>
                </a:solidFill>
                <a:latin typeface="Calibri"/>
              </a:rPr>
              <a:t>  -  Lists any remaining issues if the first repair was incomplete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E2978"/>
                </a:solidFill>
                <a:latin typeface="Calibri"/>
              </a:rPr>
              <a:t>Features We Built  -  Chat Mode + Controls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2286000" cy="38100"/>
          </a:xfrm>
          <a:prstGeom prst="rect">
            <a:avLst/>
          </a:prstGeom>
          <a:solidFill>
            <a:srgbClr val="1E2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</a:pPr>
            <a:r>
              <a:rPr sz="1800">
                <a:solidFill>
                  <a:srgbClr val="202020"/>
                </a:solidFill>
                <a:latin typeface="Calibri"/>
              </a:rPr>
              <a:t>•  Chat Mode for back-and-forth conversation about a payment</a:t>
            </a:r>
          </a:p>
          <a:p>
            <a:pPr algn="l" lvl="1">
              <a:spcAft>
                <a:spcPts val="540"/>
              </a:spcAft>
            </a:pPr>
            <a:r>
              <a:rPr sz="1500">
                <a:solidFill>
                  <a:srgbClr val="555555"/>
                </a:solidFill>
                <a:latin typeface="Calibri"/>
              </a:rPr>
              <a:t>  -  Up to 50 follow-up messages with full context preserved</a:t>
            </a:r>
          </a:p>
          <a:p>
            <a:pPr algn="l" lvl="1">
              <a:spcAft>
                <a:spcPts val="540"/>
              </a:spcAft>
            </a:pPr>
            <a:r>
              <a:rPr sz="1500">
                <a:solidFill>
                  <a:srgbClr val="555555"/>
                </a:solidFill>
                <a:latin typeface="Calibri"/>
              </a:rPr>
              <a:t>  -  Useful for training, root-cause analysis, or alternate-fix exploration</a:t>
            </a:r>
          </a:p>
          <a:p>
            <a:pPr algn="l">
              <a:spcAft>
                <a:spcPts val="540"/>
              </a:spcAft>
            </a:pPr>
            <a:r>
              <a:rPr sz="1800">
                <a:solidFill>
                  <a:srgbClr val="202020"/>
                </a:solidFill>
                <a:latin typeface="Calibri"/>
              </a:rPr>
              <a:t>•  Editable Payment Formats  -  add PACS.008, PACS.004, CAMT.053, MT103, etc.</a:t>
            </a:r>
          </a:p>
          <a:p>
            <a:pPr algn="l">
              <a:spcAft>
                <a:spcPts val="540"/>
              </a:spcAft>
            </a:pPr>
            <a:r>
              <a:rPr sz="1800">
                <a:solidFill>
                  <a:srgbClr val="202020"/>
                </a:solidFill>
                <a:latin typeface="Calibri"/>
              </a:rPr>
              <a:t>•  Editable System Instructions per format  -  ops can tune prompts without a code release</a:t>
            </a:r>
          </a:p>
          <a:p>
            <a:pPr algn="l">
              <a:spcAft>
                <a:spcPts val="540"/>
              </a:spcAft>
            </a:pPr>
            <a:r>
              <a:rPr sz="1800">
                <a:solidFill>
                  <a:srgbClr val="202020"/>
                </a:solidFill>
                <a:latin typeface="Calibri"/>
              </a:rPr>
              <a:t>•  Editable Repair Prompt Template (shared across all formats)</a:t>
            </a:r>
          </a:p>
          <a:p>
            <a:pPr algn="l">
              <a:spcAft>
                <a:spcPts val="540"/>
              </a:spcAft>
            </a:pPr>
            <a:r>
              <a:rPr sz="1800">
                <a:solidFill>
                  <a:srgbClr val="202020"/>
                </a:solidFill>
                <a:latin typeface="Calibri"/>
              </a:rPr>
              <a:t>•  Temperature slider  -  synced between Chat and Repair modes</a:t>
            </a:r>
          </a:p>
          <a:p>
            <a:pPr algn="l">
              <a:spcAft>
                <a:spcPts val="540"/>
              </a:spcAft>
            </a:pPr>
            <a:r>
              <a:rPr sz="1800">
                <a:solidFill>
                  <a:srgbClr val="202020"/>
                </a:solidFill>
                <a:latin typeface="Calibri"/>
              </a:rPr>
              <a:t>•  Settings panel  -  endpoint URL + bearer token, saved in browser localStorage</a:t>
            </a:r>
          </a:p>
          <a:p>
            <a:pPr algn="l">
              <a:spcAft>
                <a:spcPts val="540"/>
              </a:spcAft>
            </a:pPr>
            <a:r>
              <a:rPr sz="1800">
                <a:solidFill>
                  <a:srgbClr val="202020"/>
                </a:solidFill>
                <a:latin typeface="Calibri"/>
              </a:rPr>
              <a:t>•  All preferences persist locally  -  nothing is sent anywhere except Vertex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E2978"/>
                </a:solidFill>
                <a:latin typeface="Calibri"/>
              </a:rP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2286000" cy="38100"/>
          </a:xfrm>
          <a:prstGeom prst="rect">
            <a:avLst/>
          </a:prstGeom>
          <a:solidFill>
            <a:srgbClr val="1E2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10"/>
              </a:spcAft>
            </a:pPr>
            <a:r>
              <a:rPr sz="2000">
                <a:solidFill>
                  <a:srgbClr val="202020"/>
                </a:solidFill>
                <a:latin typeface="Calibri"/>
              </a:rPr>
              <a:t>•  We built a working proof-of-concept payment repair assistant in one day</a:t>
            </a:r>
          </a:p>
          <a:p>
            <a:pPr algn="l">
              <a:spcAft>
                <a:spcPts val="810"/>
              </a:spcAft>
            </a:pPr>
            <a:r>
              <a:rPr sz="2000">
                <a:solidFill>
                  <a:srgbClr val="202020"/>
                </a:solidFill>
                <a:latin typeface="Calibri"/>
              </a:rPr>
              <a:t>•  It's a thin, transparent layer on top of Deutsche Bank's hosted Gemini AI</a:t>
            </a:r>
          </a:p>
          <a:p>
            <a:pPr algn="l">
              <a:spcAft>
                <a:spcPts val="810"/>
              </a:spcAft>
            </a:pPr>
            <a:r>
              <a:rPr sz="2000">
                <a:solidFill>
                  <a:srgbClr val="202020"/>
                </a:solidFill>
                <a:latin typeface="Calibri"/>
              </a:rPr>
              <a:t>•  Operators get instant AI suggestions, a verifiable diff, and a four-eye check</a:t>
            </a:r>
          </a:p>
          <a:p>
            <a:pPr algn="l">
              <a:spcAft>
                <a:spcPts val="810"/>
              </a:spcAft>
            </a:pPr>
            <a:r>
              <a:rPr sz="2000">
                <a:solidFill>
                  <a:srgbClr val="202020"/>
                </a:solidFill>
                <a:latin typeface="Calibri"/>
              </a:rPr>
              <a:t>•  All controls (prompts, temperature, formats) are editable by ops  -  no code release needed</a:t>
            </a:r>
          </a:p>
          <a:p>
            <a:pPr algn="l">
              <a:spcAft>
                <a:spcPts val="810"/>
              </a:spcAft>
            </a:pPr>
            <a:r>
              <a:rPr sz="2000">
                <a:solidFill>
                  <a:srgbClr val="202020"/>
                </a:solidFill>
                <a:latin typeface="Calibri"/>
              </a:rPr>
              <a:t>•  Easy to deploy: static site, no backend, no new infrastructure</a:t>
            </a:r>
          </a:p>
          <a:p>
            <a:pPr algn="l">
              <a:spcAft>
                <a:spcPts val="810"/>
              </a:spcAft>
            </a:pPr>
            <a:r>
              <a:rPr sz="2000">
                <a:solidFill>
                  <a:srgbClr val="202020"/>
                </a:solidFill>
                <a:latin typeface="Calibri"/>
              </a:rPr>
              <a:t>•  Next step: pilot with HVP operators on real (shadow) repair queues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5555"/>
                </a:solidFill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