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2978"/>
                </a:solidFill>
                <a:latin typeface="Calibri"/>
              </a:rPr>
              <a:t>Galileo Payment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202020"/>
                </a:solidFill>
                <a:latin typeface="Calibri"/>
              </a:rPr>
              <a:t>An AI-Assisted Payment Repair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i="1">
                <a:solidFill>
                  <a:srgbClr val="555555"/>
                </a:solidFill>
                <a:latin typeface="Calibri"/>
              </a:rPr>
              <a:t>Proof of Concept  |  High Value Payments  |  Deutsche Bank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2286000" cy="508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The Problem  -  Fatal Payments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Deutsche Bank processes billions of euros in payments every day</a:t>
            </a:r>
          </a:p>
          <a:p>
            <a:pPr algn="l">
              <a:spcAft>
                <a:spcPts val="54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Even at a 99.5% straight-through rate, that leaves thousands of transactions for manual repair daily</a:t>
            </a:r>
          </a:p>
          <a:p>
            <a:pPr algn="l">
              <a:spcAft>
                <a:spcPts val="54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Each one falls into the repair queue because of small errors:</a:t>
            </a:r>
          </a:p>
          <a:p>
            <a:pPr algn="l" lvl="1">
              <a:spcAft>
                <a:spcPts val="540"/>
              </a:spcAft>
            </a:pPr>
            <a:r>
              <a:rPr sz="1400">
                <a:solidFill>
                  <a:srgbClr val="555555"/>
                </a:solidFill>
                <a:latin typeface="Calibri"/>
              </a:rPr>
              <a:t>  -  A wrong currency code, a malformed BIC, an invalid charge bearer enum</a:t>
            </a:r>
          </a:p>
          <a:p>
            <a:pPr algn="l">
              <a:spcAft>
                <a:spcPts val="54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Each is repaired manually:</a:t>
            </a:r>
          </a:p>
          <a:p>
            <a:pPr algn="l" lvl="1">
              <a:spcAft>
                <a:spcPts val="540"/>
              </a:spcAft>
            </a:pPr>
            <a:r>
              <a:rPr sz="1400">
                <a:solidFill>
                  <a:srgbClr val="555555"/>
                </a:solidFill>
                <a:latin typeface="Calibri"/>
              </a:rPr>
              <a:t>  -  Operator opens the message  -  reads the XML  -  spots the error  -  types the fix</a:t>
            </a:r>
          </a:p>
          <a:p>
            <a:pPr algn="l" lvl="1">
              <a:spcAft>
                <a:spcPts val="540"/>
              </a:spcAft>
            </a:pPr>
            <a:r>
              <a:rPr sz="1400">
                <a:solidFill>
                  <a:srgbClr val="555555"/>
                </a:solidFill>
                <a:latin typeface="Calibri"/>
              </a:rPr>
              <a:t>  -  A second operator reviews and approves (four-eye control)</a:t>
            </a:r>
          </a:p>
          <a:p>
            <a:pPr algn="l">
              <a:spcAft>
                <a:spcPts val="54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Slow, error-prone, and SLA-critical  -  can AI help operators get to the fix faster?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3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A simple web app that suggests repairs for fatal payment messages</a:t>
            </a:r>
          </a:p>
          <a:p>
            <a:pPr algn="l">
              <a:spcAft>
                <a:spcPts val="63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Operator pastes a broken payment, AI returns a corrected version</a:t>
            </a:r>
          </a:p>
          <a:p>
            <a:pPr algn="l">
              <a:spcAft>
                <a:spcPts val="63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Shows a clear before / after diff so the operator can verify the change</a:t>
            </a:r>
          </a:p>
          <a:p>
            <a:pPr algn="l">
              <a:spcAft>
                <a:spcPts val="63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Built quickly as an exploratory proof of concept</a:t>
            </a:r>
          </a:p>
          <a:p>
            <a:pPr algn="l">
              <a:spcAft>
                <a:spcPts val="63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Uses Deutsche Bank's hosted AI endpoint  -  no external services</a:t>
            </a:r>
          </a:p>
          <a:p>
            <a:pPr algn="l">
              <a:spcAft>
                <a:spcPts val="63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Operator always stays in control  -  AI suggests, the human approves</a:t>
            </a:r>
          </a:p>
        </p:txBody>
      </p:sp>
      <p:pic>
        <p:nvPicPr>
          <p:cNvPr id="5" name="Picture 4" descr="01_home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88820"/>
            <a:ext cx="5760720" cy="370332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26480" y="61722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  <a:latin typeface="Calibri"/>
              </a:rPr>
              <a:t>The Galileo Payment Analyzer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How AI Helps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6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AI models are good at pattern recognition  -  they have seen enormous amounts of structured text</a:t>
            </a:r>
          </a:p>
          <a:p>
            <a:pPr algn="l">
              <a:spcAft>
                <a:spcPts val="576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Payment messages are structured text  -  PACS, CAMT, MT  -  with strict format rules</a:t>
            </a:r>
          </a:p>
          <a:p>
            <a:pPr algn="l">
              <a:spcAft>
                <a:spcPts val="576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The AI is asked to act as a payments domain expert and return only the corrected message</a:t>
            </a:r>
          </a:p>
          <a:p>
            <a:pPr algn="l">
              <a:spcAft>
                <a:spcPts val="576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Strengths today:</a:t>
            </a:r>
          </a:p>
          <a:p>
            <a:pPr algn="l" lvl="1">
              <a:spcAft>
                <a:spcPts val="576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  -  Catches typos in static fields (currency, country, BIC)</a:t>
            </a:r>
          </a:p>
          <a:p>
            <a:pPr algn="l" lvl="1">
              <a:spcAft>
                <a:spcPts val="576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  -  Knows ISO 4217 / 3166 / SWIFT enumerations</a:t>
            </a:r>
          </a:p>
          <a:p>
            <a:pPr algn="l" lvl="1">
              <a:spcAft>
                <a:spcPts val="576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  -  Can explain why a change was made in plain English</a:t>
            </a:r>
          </a:p>
          <a:p>
            <a:pPr algn="l">
              <a:spcAft>
                <a:spcPts val="576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It is a suggestion engine  -  not a decision maker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How a Repair Works  - 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566160" cy="2926080"/>
          </a:xfrm>
          <a:prstGeom prst="rect">
            <a:avLst/>
          </a:prstGeom>
          <a:solidFill>
            <a:srgbClr val="F4F6FB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3566160" cy="50800"/>
          </a:xfrm>
          <a:prstGeom prst="rect">
            <a:avLst/>
          </a:prstGeom>
          <a:solidFill>
            <a:srgbClr val="00A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A8E1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04288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2978"/>
                </a:solidFill>
                <a:latin typeface="Calibri"/>
              </a:rPr>
              <a:t>Normalize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alibri"/>
              </a:rPr>
              <a:t>AI tidies up the message formatting first  -  consistent indentation, one element per line  -  without changing any content. This makes the diff honest.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2011680"/>
            <a:ext cx="3566160" cy="2926080"/>
          </a:xfrm>
          <a:prstGeom prst="rect">
            <a:avLst/>
          </a:prstGeom>
          <a:solidFill>
            <a:srgbClr val="F4F6FB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2011680"/>
            <a:ext cx="3566160" cy="508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24028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78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2304288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2978"/>
                </a:solidFill>
                <a:latin typeface="Calibri"/>
              </a:rPr>
              <a:t>Repair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1089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alibri"/>
              </a:rPr>
              <a:t>AI returns the corrected payment message. Asked to make the minimum changes required and to preserve everything else.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011680"/>
            <a:ext cx="3566160" cy="2926080"/>
          </a:xfrm>
          <a:prstGeom prst="rect">
            <a:avLst/>
          </a:prstGeom>
          <a:solidFill>
            <a:srgbClr val="F4F6FB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2011680"/>
            <a:ext cx="3566160" cy="50800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24028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9E44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304288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2978"/>
                </a:solidFill>
                <a:latin typeface="Calibri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1089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alibri"/>
              </a:rPr>
              <a:t>The operator sees a red / green diff and decides. Optional Four Eye Check runs a second independent AI pass with a confidence score.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202020"/>
                </a:solidFill>
                <a:latin typeface="Calibri"/>
              </a:rPr>
              <a:t>The operator is always the final approver  -  the AI suggests, the human decides.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1E2978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202020"/>
                </a:solidFill>
                <a:latin typeface="Calibri"/>
              </a:rPr>
              <a:t>Five real fatal-payment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0624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i="1">
                <a:solidFill>
                  <a:srgbClr val="555555"/>
                </a:solidFill>
                <a:latin typeface="Calibri"/>
              </a:rPr>
              <a:t>Currency code  |  BIC code  |  Charge bearer  |  Multi-issue  |  Country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3520440"/>
            <a:ext cx="2286000" cy="50800"/>
          </a:xfrm>
          <a:prstGeom prst="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Beyond the Repair  -  Two Extra Controls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4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Four Eye Check  -  an independent AI second pass:</a:t>
            </a:r>
          </a:p>
          <a:p>
            <a:pPr algn="l" lvl="1">
              <a:spcAft>
                <a:spcPts val="504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Runs the repaired payment through the AI again, as a second reviewer</a:t>
            </a:r>
          </a:p>
          <a:p>
            <a:pPr algn="l" lvl="1">
              <a:spcAft>
                <a:spcPts val="504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Returns a confidence score (0 to 100%) with a colour-coded badge</a:t>
            </a:r>
          </a:p>
          <a:p>
            <a:pPr algn="l" lvl="1">
              <a:spcAft>
                <a:spcPts val="504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Lists any additional changes still needed</a:t>
            </a:r>
          </a:p>
          <a:p>
            <a:pPr algn="l">
              <a:spcAft>
                <a:spcPts val="504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Explain It To Me  -  AI describes the changes in plain English:</a:t>
            </a:r>
          </a:p>
          <a:p>
            <a:pPr algn="l" lvl="1">
              <a:spcAft>
                <a:spcPts val="504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References specific fields and standards (ISO 4217, ISO 3166, etc.)</a:t>
            </a:r>
          </a:p>
          <a:p>
            <a:pPr algn="l" lvl="1">
              <a:spcAft>
                <a:spcPts val="504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Doubles as a knowledge tool for junior operators</a:t>
            </a:r>
          </a:p>
          <a:p>
            <a:pPr algn="l">
              <a:spcAft>
                <a:spcPts val="504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Both features keep the operator informed  -  no black box</a:t>
            </a:r>
          </a:p>
        </p:txBody>
      </p:sp>
      <p:pic>
        <p:nvPicPr>
          <p:cNvPr id="5" name="Picture 4" descr="04_four_ey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65169"/>
            <a:ext cx="5212080" cy="335062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675120" y="617220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  <a:latin typeface="Calibri"/>
              </a:rPr>
              <a:t>Four Eye Check result with 92% confidence badge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This Is an Early Proof of Concept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6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Built in a short timeframe to explore what's possible</a:t>
            </a:r>
          </a:p>
          <a:p>
            <a:pPr algn="l">
              <a:spcAft>
                <a:spcPts val="576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Was given access to the AI endpoint  -  built a thin UI on top</a:t>
            </a:r>
          </a:p>
          <a:p>
            <a:pPr algn="l">
              <a:spcAft>
                <a:spcPts val="576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What this is NOT today:</a:t>
            </a:r>
          </a:p>
          <a:p>
            <a:pPr algn="l" lvl="1">
              <a:spcAft>
                <a:spcPts val="576"/>
              </a:spcAft>
            </a:pPr>
            <a:r>
              <a:rPr sz="1400">
                <a:solidFill>
                  <a:srgbClr val="555555"/>
                </a:solidFill>
                <a:latin typeface="Calibri"/>
              </a:rPr>
              <a:t>  -  Not integrated with the live repair queue  -  operators paste messages in</a:t>
            </a:r>
          </a:p>
          <a:p>
            <a:pPr algn="l" lvl="1">
              <a:spcAft>
                <a:spcPts val="576"/>
              </a:spcAft>
            </a:pPr>
            <a:r>
              <a:rPr sz="1400">
                <a:solidFill>
                  <a:srgbClr val="555555"/>
                </a:solidFill>
                <a:latin typeface="Calibri"/>
              </a:rPr>
              <a:t>  -  Not production-hardened  -  no audit trail, no SSO, no rate limits</a:t>
            </a:r>
          </a:p>
          <a:p>
            <a:pPr algn="l" lvl="1">
              <a:spcAft>
                <a:spcPts val="576"/>
              </a:spcAft>
            </a:pPr>
            <a:r>
              <a:rPr sz="1400">
                <a:solidFill>
                  <a:srgbClr val="555555"/>
                </a:solidFill>
                <a:latin typeface="Calibri"/>
              </a:rPr>
              <a:t>  -  Not validated against the full PACS / CAMT / MT schema library</a:t>
            </a:r>
          </a:p>
          <a:p>
            <a:pPr algn="l" lvl="1">
              <a:spcAft>
                <a:spcPts val="576"/>
              </a:spcAft>
            </a:pPr>
            <a:r>
              <a:rPr sz="1400">
                <a:solidFill>
                  <a:srgbClr val="555555"/>
                </a:solidFill>
                <a:latin typeface="Calibri"/>
              </a:rPr>
              <a:t>  -  Not tuned on Deutsche Bank's own repair history  -  uses a general AI model</a:t>
            </a:r>
          </a:p>
          <a:p>
            <a:pPr algn="l">
              <a:spcAft>
                <a:spcPts val="576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Goal of today is to show the direction and gather feedback, not to propose immediate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Where This Could Go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Production hardening: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Hook directly into the fatal-payment queue  -  no copy / paste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Push approved repairs back into the workflow</a:t>
            </a:r>
          </a:p>
          <a:p>
            <a:pPr algn="l">
              <a:spcAft>
                <a:spcPts val="45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Better quality controls: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Schema-aware validation on top of the AI output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Confidence-tiered routing  -  high confidence to second eye, low confidence escalates</a:t>
            </a:r>
          </a:p>
          <a:p>
            <a:pPr algn="l">
              <a:spcAft>
                <a:spcPts val="45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Broader coverage: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All payment formats  -  PACS, CAMT, MT, FedWire, CHIPS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Format-specific tuning, owned by HVP operations</a:t>
            </a:r>
          </a:p>
          <a:p>
            <a:pPr algn="l">
              <a:spcAft>
                <a:spcPts val="45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Longer term: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Fine-tune a model on Deutsche Bank's own anonymised repair history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Pre-emptive screening  -  catch fatals on outbound payments before they hit CSM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Security, Compliance &amp; Controls  -  To Be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Authentication and authorisation: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SSO integration, role-based access, per-operator entitlements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No hardcoded tokens  -  managed via the bank's secret store</a:t>
            </a:r>
          </a:p>
          <a:p>
            <a:pPr algn="l">
              <a:spcAft>
                <a:spcPts val="45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Audit and traceability: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Every repair logged with operator, model version, prompt version, confidence, and approver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Signed before / after pairs for regulatory review</a:t>
            </a:r>
          </a:p>
          <a:p>
            <a:pPr algn="l">
              <a:spcAft>
                <a:spcPts val="45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Compliance: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Data residency stays inside the bank  -  no external API calls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Sanctions screening hooks before any repair is finalised</a:t>
            </a:r>
          </a:p>
          <a:p>
            <a:pPr algn="l" lvl="1">
              <a:spcAft>
                <a:spcPts val="45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-  Alignment with existing four-eye and segregation-of-duties rules</a:t>
            </a:r>
          </a:p>
          <a:p>
            <a:pPr algn="l">
              <a:spcAft>
                <a:spcPts val="45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•  Human-in-the-loop is non-negotiable  -  AI never auto-submits a 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3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Built a working proof of concept that suggests AI-assisted repairs for fatal payments</a:t>
            </a:r>
          </a:p>
          <a:p>
            <a:pPr algn="l">
              <a:spcAft>
                <a:spcPts val="63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Demonstrates real value: faster repairs, plain-English explanations, dual-control review</a:t>
            </a:r>
          </a:p>
          <a:p>
            <a:pPr algn="l">
              <a:spcAft>
                <a:spcPts val="63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Early and exploratory  -  not production-ready, by design</a:t>
            </a:r>
          </a:p>
          <a:p>
            <a:pPr algn="l">
              <a:spcAft>
                <a:spcPts val="63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Clear path forward: queue integration, schema validation, audit trail, security and compliance</a:t>
            </a:r>
          </a:p>
          <a:p>
            <a:pPr algn="l">
              <a:spcAft>
                <a:spcPts val="63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The exciting question is not 'can AI do this' but 'how do we build the right controls around it'</a:t>
            </a:r>
          </a:p>
          <a:p>
            <a:pPr algn="l">
              <a:spcAft>
                <a:spcPts val="63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</a:t>
            </a:r>
          </a:p>
          <a:p>
            <a:pPr algn="l">
              <a:spcAft>
                <a:spcPts val="63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Thank you  - 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